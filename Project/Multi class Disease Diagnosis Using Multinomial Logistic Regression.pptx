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81" r:id="rId6"/>
    <p:sldId id="261" r:id="rId7"/>
    <p:sldId id="262" r:id="rId8"/>
    <p:sldId id="263" r:id="rId9"/>
    <p:sldId id="282" r:id="rId10"/>
    <p:sldId id="284"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76" d="100"/>
          <a:sy n="76" d="100"/>
        </p:scale>
        <p:origin x="96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18-09-2026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18-09-2026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18-09-2026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18-09-2026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46461" y="773724"/>
            <a:ext cx="8229601" cy="1070010"/>
          </a:xfrm>
        </p:spPr>
        <p:txBody>
          <a:bodyPr>
            <a:noAutofit/>
          </a:bodyPr>
          <a:lstStyle/>
          <a:p>
            <a:pPr algn="ctr"/>
            <a:r>
              <a:rPr lang="en-IN" sz="3200" dirty="0"/>
              <a:t>Multi class Disease Diagnosis Using Multinomial Logistic Regression</a:t>
            </a:r>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a:t>COURSE : Machine learning</a:t>
            </a:r>
          </a:p>
          <a:p>
            <a:pPr algn="ctr"/>
            <a:r>
              <a:rPr lang="en-US" dirty="0"/>
              <a:t>COURSE CODE: 25SC2107E</a:t>
            </a:r>
          </a:p>
          <a:p>
            <a:pPr algn="ctr"/>
            <a:r>
              <a:rPr lang="en-US" dirty="0"/>
              <a:t>SECTION: 4</a:t>
            </a:r>
          </a:p>
          <a:p>
            <a:pPr algn="ctr"/>
            <a:r>
              <a:rPr lang="en-US" dirty="0"/>
              <a:t>Branch: CSE</a:t>
            </a:r>
          </a:p>
          <a:p>
            <a:pPr algn="ctr"/>
            <a:r>
              <a:rPr lang="en-US" dirty="0"/>
              <a:t>GUIDED BY: JYOTHSNA DATTI(Assistant professor)</a:t>
            </a:r>
          </a:p>
          <a:p>
            <a:pPr algn="ctr"/>
            <a:r>
              <a:rPr lang="en-US" dirty="0"/>
              <a:t>2520030439  - Yetukuri uttej</a:t>
            </a:r>
          </a:p>
          <a:p>
            <a:pPr algn="ctr"/>
            <a:r>
              <a:rPr lang="en-US" dirty="0"/>
              <a:t>2520030370– Gummadi </a:t>
            </a:r>
            <a:r>
              <a:rPr lang="en-US" dirty="0" err="1"/>
              <a:t>hitesh</a:t>
            </a:r>
            <a:endParaRPr lang="en-US" dirty="0"/>
          </a:p>
          <a:p>
            <a:pPr algn="ctr"/>
            <a:r>
              <a:rPr lang="en-US" dirty="0"/>
              <a:t>2026-2027</a:t>
            </a:r>
          </a:p>
        </p:txBody>
      </p:sp>
      <p:pic>
        <p:nvPicPr>
          <p:cNvPr id="4" name="Picture 3"/>
          <p:cNvPicPr>
            <a:picLocks noChangeAspect="1"/>
          </p:cNvPicPr>
          <p:nvPr/>
        </p:nvPicPr>
        <p:blipFill>
          <a:blip r:embed="rId2"/>
          <a:stretch>
            <a:fillRect/>
          </a:stretch>
        </p:blipFill>
        <p:spPr>
          <a:xfrm>
            <a:off x="0" y="0"/>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CONTENTS</a:t>
            </a:r>
            <a:endParaRPr lang="en-IN" dirty="0"/>
          </a:p>
        </p:txBody>
      </p:sp>
      <p:sp>
        <p:nvSpPr>
          <p:cNvPr id="3" name="Content Placeholder 2"/>
          <p:cNvSpPr>
            <a:spLocks noGrp="1"/>
          </p:cNvSpPr>
          <p:nvPr>
            <p:ph idx="1"/>
          </p:nvPr>
        </p:nvSpPr>
        <p:spPr/>
        <p:txBody>
          <a:bodyPr/>
          <a:lstStyle/>
          <a:p>
            <a:r>
              <a:rPr lang="en-US" dirty="0"/>
              <a:t>ABSTRACT </a:t>
            </a:r>
          </a:p>
          <a:p>
            <a:r>
              <a:rPr lang="en-US" dirty="0"/>
              <a:t>INTRODUCTION </a:t>
            </a:r>
          </a:p>
          <a:p>
            <a:r>
              <a:rPr lang="en-US" dirty="0"/>
              <a:t>REQUIREMENT ANALYSIS</a:t>
            </a:r>
          </a:p>
          <a:p>
            <a:r>
              <a:rPr lang="en-US" dirty="0"/>
              <a:t>20 LITERATURE PAPERS IN TABLE FORMAT </a:t>
            </a:r>
          </a:p>
          <a:p>
            <a:r>
              <a:rPr lang="en-US" dirty="0"/>
              <a:t>DATASET DESCRIPTION </a:t>
            </a:r>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dirty="0"/>
              <a:t>ABSTRACT</a:t>
            </a:r>
            <a:endParaRPr lang="en-IN" dirty="0"/>
          </a:p>
        </p:txBody>
      </p:sp>
      <p:sp>
        <p:nvSpPr>
          <p:cNvPr id="3" name="Content Placeholder 2"/>
          <p:cNvSpPr>
            <a:spLocks noGrp="1"/>
          </p:cNvSpPr>
          <p:nvPr>
            <p:ph idx="1"/>
          </p:nvPr>
        </p:nvSpPr>
        <p:spPr>
          <a:xfrm>
            <a:off x="685801" y="1410547"/>
            <a:ext cx="10131425" cy="3649133"/>
          </a:xfrm>
        </p:spPr>
        <p:txBody>
          <a:bodyPr>
            <a:normAutofit/>
          </a:bodyPr>
          <a:lstStyle/>
          <a:p>
            <a:r>
              <a:rPr lang="en-IN" b="1" dirty="0"/>
              <a:t>Multi-Class Disease Diagnosis Using Multinomial Logistic Regression</a:t>
            </a:r>
            <a:r>
              <a:rPr lang="en-IN" dirty="0"/>
              <a:t> is a machine learning-based system developed to classify patients into different disease categories using relevant medical features such as symptoms, age, test results, and other clinical attributes. The proposed system uses </a:t>
            </a:r>
            <a:r>
              <a:rPr lang="en-IN" b="1" dirty="0"/>
              <a:t>Multinomial Logistic Regression</a:t>
            </a:r>
            <a:r>
              <a:rPr lang="en-IN" dirty="0"/>
              <a:t>, which is suitable for problems involving multiple possible output classes. The model is trained using historical medical data to learn relationships between patient features and disease categories. It then predicts the probability of each disease and selects the most likely class. The system aims to provide </a:t>
            </a:r>
            <a:r>
              <a:rPr lang="en-IN" b="1" dirty="0"/>
              <a:t>fast, consistent, and data-driven decision support</a:t>
            </a:r>
            <a:r>
              <a:rPr lang="en-IN" dirty="0"/>
              <a:t> for disease classification. It can help reduce manual effort and support healthcare professionals in the early identification of possible diseases.</a:t>
            </a:r>
          </a:p>
        </p:txBody>
      </p:sp>
    </p:spTree>
    <p:extLst>
      <p:ext uri="{BB962C8B-B14F-4D97-AF65-F5344CB8AC3E}">
        <p14:creationId xmlns:p14="http://schemas.microsoft.com/office/powerpoint/2010/main" val="422128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lstStyle/>
          <a:p>
            <a:pPr algn="ctr"/>
            <a:r>
              <a:rPr lang="en-US" dirty="0"/>
              <a:t>INTRODUCTION</a:t>
            </a:r>
            <a:endParaRPr lang="en-IN" dirty="0"/>
          </a:p>
        </p:txBody>
      </p:sp>
      <p:sp>
        <p:nvSpPr>
          <p:cNvPr id="3" name="Content Placeholder 2"/>
          <p:cNvSpPr>
            <a:spLocks noGrp="1"/>
          </p:cNvSpPr>
          <p:nvPr>
            <p:ph idx="1"/>
          </p:nvPr>
        </p:nvSpPr>
        <p:spPr>
          <a:xfrm>
            <a:off x="1030287" y="1436554"/>
            <a:ext cx="10131425" cy="3649133"/>
          </a:xfrm>
        </p:spPr>
        <p:txBody>
          <a:bodyPr>
            <a:normAutofit/>
          </a:bodyPr>
          <a:lstStyle/>
          <a:p>
            <a:r>
              <a:rPr lang="en-IN" b="1" dirty="0"/>
              <a:t>Multi-Class Disease Diagnosis Using Multinomial Logistic Regression</a:t>
            </a:r>
            <a:r>
              <a:rPr lang="en-IN" dirty="0"/>
              <a:t> is a machine learning approach designed to predict and classify different diseases based on patient-related information such as symptoms, medical test results, age, and other relevant health features. Traditional disease diagnosis can be time-consuming and may depend heavily on manual analysis. Machine learning can assist by identifying patterns in medical data and providing a predicted disease category.</a:t>
            </a:r>
          </a:p>
          <a:p>
            <a:r>
              <a:rPr lang="en-IN" dirty="0"/>
              <a:t>In this project, </a:t>
            </a:r>
            <a:r>
              <a:rPr lang="en-IN" b="1" dirty="0"/>
              <a:t>Multinomial Logistic Regression</a:t>
            </a:r>
            <a:r>
              <a:rPr lang="en-IN" dirty="0"/>
              <a:t> is used because the target variable contains more than two disease classes. The model </a:t>
            </a:r>
            <a:r>
              <a:rPr lang="en-IN" dirty="0" err="1"/>
              <a:t>analyzes</a:t>
            </a:r>
            <a:r>
              <a:rPr lang="en-IN" dirty="0"/>
              <a:t> the input features and calculates the probability of each possible disease, selecting the class with the highest probability as the predicted diagnosis. The system can help improve the speed and consistency of disease classification and can serve as a </a:t>
            </a:r>
            <a:r>
              <a:rPr lang="en-IN" b="1" dirty="0"/>
              <a:t>decision-support tool for healthcare professionals</a:t>
            </a:r>
            <a:r>
              <a:rPr lang="en-IN" dirty="0"/>
              <a:t>, rather than replacing professional medical diagnosis.</a:t>
            </a:r>
          </a:p>
          <a:p>
            <a:pPr marL="0" indent="0">
              <a:buNone/>
            </a:pPr>
            <a:endParaRPr lang="en-IN" dirty="0"/>
          </a:p>
        </p:txBody>
      </p:sp>
    </p:spTree>
    <p:extLst>
      <p:ext uri="{BB962C8B-B14F-4D97-AF65-F5344CB8AC3E}">
        <p14:creationId xmlns:p14="http://schemas.microsoft.com/office/powerpoint/2010/main" val="283191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88" y="0"/>
            <a:ext cx="10131425" cy="609600"/>
          </a:xfrm>
        </p:spPr>
        <p:txBody>
          <a:bodyPr>
            <a:normAutofit fontScale="90000"/>
          </a:bodyPr>
          <a:lstStyle/>
          <a:p>
            <a:pPr algn="ctr"/>
            <a:r>
              <a:rPr lang="en-US" dirty="0"/>
              <a:t>REQUIREMENT ANALYSIS </a:t>
            </a:r>
            <a:endParaRPr lang="en-IN" dirty="0"/>
          </a:p>
        </p:txBody>
      </p:sp>
      <p:sp>
        <p:nvSpPr>
          <p:cNvPr id="3" name="Content Placeholder 2">
            <a:extLst>
              <a:ext uri="{FF2B5EF4-FFF2-40B4-BE49-F238E27FC236}">
                <a16:creationId xmlns:a16="http://schemas.microsoft.com/office/drawing/2014/main" id="{A5434BF7-F47C-FDED-D73A-A160445980AC}"/>
              </a:ext>
            </a:extLst>
          </p:cNvPr>
          <p:cNvSpPr>
            <a:spLocks noGrp="1"/>
          </p:cNvSpPr>
          <p:nvPr>
            <p:ph idx="1"/>
          </p:nvPr>
        </p:nvSpPr>
        <p:spPr>
          <a:xfrm>
            <a:off x="685801" y="773723"/>
            <a:ext cx="10131425" cy="5017477"/>
          </a:xfrm>
        </p:spPr>
        <p:txBody>
          <a:bodyPr>
            <a:normAutofit/>
          </a:bodyPr>
          <a:lstStyle/>
          <a:p>
            <a:pPr marL="0" lvl="0" indent="0" fontAlgn="base">
              <a:buNone/>
            </a:pPr>
            <a:endParaRPr lang="en-IN" dirty="0"/>
          </a:p>
          <a:p>
            <a:r>
              <a:rPr lang="en-IN" dirty="0"/>
              <a:t>   </a:t>
            </a:r>
            <a:r>
              <a:rPr lang="en-IN" b="1" dirty="0"/>
              <a:t>Programming Language</a:t>
            </a:r>
            <a:r>
              <a:rPr lang="en-IN" dirty="0"/>
              <a:t>: Python</a:t>
            </a:r>
          </a:p>
          <a:p>
            <a:r>
              <a:rPr lang="en-IN" dirty="0"/>
              <a:t>  </a:t>
            </a:r>
            <a:r>
              <a:rPr lang="en-IN" b="1" dirty="0"/>
              <a:t>Libraries</a:t>
            </a:r>
            <a:r>
              <a:rPr lang="en-IN" dirty="0"/>
              <a:t>: NumPy, Pandas, Scikit‑learn, Matplotlib, Seaborn</a:t>
            </a:r>
          </a:p>
          <a:p>
            <a:r>
              <a:rPr lang="en-IN" dirty="0"/>
              <a:t>  </a:t>
            </a:r>
            <a:r>
              <a:rPr lang="en-IN" b="1" dirty="0"/>
              <a:t>ML Frameworks</a:t>
            </a:r>
            <a:r>
              <a:rPr lang="en-IN" dirty="0"/>
              <a:t>: Scikit‑learn (for Logistic Regression), TensorFlow or </a:t>
            </a:r>
            <a:r>
              <a:rPr lang="en-IN" dirty="0" err="1"/>
              <a:t>PyTorch</a:t>
            </a:r>
            <a:r>
              <a:rPr lang="en-IN" dirty="0"/>
              <a:t> (optional for extensions)</a:t>
            </a:r>
          </a:p>
          <a:p>
            <a:r>
              <a:rPr lang="en-IN" dirty="0"/>
              <a:t>  </a:t>
            </a:r>
            <a:r>
              <a:rPr lang="en-IN" b="1" dirty="0"/>
              <a:t>Data Handling</a:t>
            </a:r>
            <a:r>
              <a:rPr lang="en-IN" dirty="0"/>
              <a:t>: CSV/Excel files for patient records, SQL/NoSQL databases for larger datasets</a:t>
            </a:r>
          </a:p>
          <a:p>
            <a:r>
              <a:rPr lang="en-IN" dirty="0"/>
              <a:t>  </a:t>
            </a:r>
            <a:r>
              <a:rPr lang="en-IN" b="1" dirty="0"/>
              <a:t>Development Environment</a:t>
            </a:r>
            <a:r>
              <a:rPr lang="en-IN" dirty="0"/>
              <a:t>: Jupyter Notebook, PyCharm, or Visual Studio Code</a:t>
            </a:r>
          </a:p>
          <a:p>
            <a:r>
              <a:rPr lang="en-IN" dirty="0"/>
              <a:t>  </a:t>
            </a:r>
            <a:r>
              <a:rPr lang="en-IN" b="1" dirty="0"/>
              <a:t>Version Control</a:t>
            </a:r>
            <a:r>
              <a:rPr lang="en-IN" dirty="0"/>
              <a:t>: Git and GitHub</a:t>
            </a:r>
          </a:p>
          <a:p>
            <a:r>
              <a:rPr lang="en-IN" dirty="0"/>
              <a:t>  </a:t>
            </a:r>
            <a:r>
              <a:rPr lang="en-IN" b="1" dirty="0"/>
              <a:t>Operating System</a:t>
            </a:r>
            <a:r>
              <a:rPr lang="en-IN" dirty="0"/>
              <a:t>: Windows, Linux, or macOS</a:t>
            </a:r>
          </a:p>
          <a:p>
            <a:r>
              <a:rPr lang="en-IN" dirty="0"/>
              <a:t>  </a:t>
            </a:r>
            <a:r>
              <a:rPr lang="en-IN" b="1" dirty="0"/>
              <a:t>Visualization Tools</a:t>
            </a:r>
            <a:r>
              <a:rPr lang="en-IN" dirty="0"/>
              <a:t>: Matplotlib, Seaborn, </a:t>
            </a:r>
            <a:r>
              <a:rPr lang="en-IN" dirty="0" err="1"/>
              <a:t>Plotly</a:t>
            </a:r>
            <a:r>
              <a:rPr lang="en-IN" dirty="0"/>
              <a:t> (for interactive plots)</a:t>
            </a:r>
          </a:p>
          <a:p>
            <a:endParaRPr lang="en-IN" dirty="0"/>
          </a:p>
        </p:txBody>
      </p:sp>
    </p:spTree>
    <p:extLst>
      <p:ext uri="{BB962C8B-B14F-4D97-AF65-F5344CB8AC3E}">
        <p14:creationId xmlns:p14="http://schemas.microsoft.com/office/powerpoint/2010/main" val="381820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0"/>
            <a:ext cx="10131425" cy="845575"/>
          </a:xfrm>
        </p:spPr>
        <p:txBody>
          <a:bodyPr/>
          <a:lstStyle/>
          <a:p>
            <a:pPr algn="ctr"/>
            <a:r>
              <a:rPr lang="en-US" dirty="0"/>
              <a:t>20 Literature papers (1 – 5)</a:t>
            </a:r>
            <a:endParaRPr lang="en-IN" dirty="0"/>
          </a:p>
        </p:txBody>
      </p:sp>
      <p:pic>
        <p:nvPicPr>
          <p:cNvPr id="7" name="Content Placeholder 6">
            <a:extLst>
              <a:ext uri="{FF2B5EF4-FFF2-40B4-BE49-F238E27FC236}">
                <a16:creationId xmlns:a16="http://schemas.microsoft.com/office/drawing/2014/main" id="{4AD41D43-4E45-8383-006D-C3EA5A5667E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58393" y="2298192"/>
            <a:ext cx="8495207" cy="3078480"/>
          </a:xfrm>
          <a:prstGeom prst="rect">
            <a:avLst/>
          </a:prstGeom>
        </p:spPr>
      </p:pic>
    </p:spTree>
    <p:extLst>
      <p:ext uri="{BB962C8B-B14F-4D97-AF65-F5344CB8AC3E}">
        <p14:creationId xmlns:p14="http://schemas.microsoft.com/office/powerpoint/2010/main" val="268685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786580"/>
          </a:xfrm>
        </p:spPr>
        <p:txBody>
          <a:bodyPr>
            <a:normAutofit/>
          </a:bodyPr>
          <a:lstStyle/>
          <a:p>
            <a:pPr algn="ctr"/>
            <a:r>
              <a:rPr lang="en-US" dirty="0"/>
              <a:t>20 Literature papers (6 – 10)</a:t>
            </a:r>
            <a:endParaRPr lang="en-IN" dirty="0"/>
          </a:p>
        </p:txBody>
      </p:sp>
      <p:pic>
        <p:nvPicPr>
          <p:cNvPr id="7" name="Content Placeholder 6">
            <a:extLst>
              <a:ext uri="{FF2B5EF4-FFF2-40B4-BE49-F238E27FC236}">
                <a16:creationId xmlns:a16="http://schemas.microsoft.com/office/drawing/2014/main" id="{256ABD64-6A8C-FF62-9BB8-DA387059118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58393" y="2141538"/>
            <a:ext cx="8986238" cy="3649662"/>
          </a:xfrm>
          <a:prstGeom prst="rect">
            <a:avLst/>
          </a:prstGeom>
        </p:spPr>
      </p:pic>
    </p:spTree>
    <p:extLst>
      <p:ext uri="{BB962C8B-B14F-4D97-AF65-F5344CB8AC3E}">
        <p14:creationId xmlns:p14="http://schemas.microsoft.com/office/powerpoint/2010/main" val="50122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37008"/>
            <a:ext cx="10131425" cy="1456267"/>
          </a:xfrm>
        </p:spPr>
        <p:txBody>
          <a:bodyPr/>
          <a:lstStyle/>
          <a:p>
            <a:pPr algn="ctr"/>
            <a:r>
              <a:rPr lang="en-US" dirty="0"/>
              <a:t>20 Literature papers (11 – 15)</a:t>
            </a:r>
            <a:endParaRPr lang="en-IN" dirty="0"/>
          </a:p>
        </p:txBody>
      </p:sp>
      <p:pic>
        <p:nvPicPr>
          <p:cNvPr id="7" name="Content Placeholder 6">
            <a:extLst>
              <a:ext uri="{FF2B5EF4-FFF2-40B4-BE49-F238E27FC236}">
                <a16:creationId xmlns:a16="http://schemas.microsoft.com/office/drawing/2014/main" id="{898FCABF-8676-D697-0EF1-D44EDB24792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58393" y="2141538"/>
            <a:ext cx="8986238" cy="3649662"/>
          </a:xfrm>
          <a:prstGeom prst="rect">
            <a:avLst/>
          </a:prstGeom>
        </p:spPr>
      </p:pic>
    </p:spTree>
    <p:extLst>
      <p:ext uri="{BB962C8B-B14F-4D97-AF65-F5344CB8AC3E}">
        <p14:creationId xmlns:p14="http://schemas.microsoft.com/office/powerpoint/2010/main" val="1799218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20 Literature papers (16 – 20)</a:t>
            </a:r>
            <a:endParaRPr lang="en-IN" dirty="0"/>
          </a:p>
        </p:txBody>
      </p:sp>
      <p:pic>
        <p:nvPicPr>
          <p:cNvPr id="7" name="Content Placeholder 6">
            <a:extLst>
              <a:ext uri="{FF2B5EF4-FFF2-40B4-BE49-F238E27FC236}">
                <a16:creationId xmlns:a16="http://schemas.microsoft.com/office/drawing/2014/main" id="{E99D6D9F-10E7-41CA-F717-A83D09CBD29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58393" y="2141538"/>
            <a:ext cx="8986238" cy="3649662"/>
          </a:xfrm>
          <a:prstGeom prst="rect">
            <a:avLst/>
          </a:prstGeom>
        </p:spPr>
      </p:pic>
    </p:spTree>
    <p:extLst>
      <p:ext uri="{BB962C8B-B14F-4D97-AF65-F5344CB8AC3E}">
        <p14:creationId xmlns:p14="http://schemas.microsoft.com/office/powerpoint/2010/main" val="394308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DATASET Description</a:t>
            </a:r>
            <a:endParaRPr lang="en-IN" dirty="0"/>
          </a:p>
        </p:txBody>
      </p:sp>
      <p:sp>
        <p:nvSpPr>
          <p:cNvPr id="3" name="Content Placeholder 2"/>
          <p:cNvSpPr>
            <a:spLocks noGrp="1"/>
          </p:cNvSpPr>
          <p:nvPr>
            <p:ph idx="1"/>
          </p:nvPr>
        </p:nvSpPr>
        <p:spPr/>
        <p:txBody>
          <a:bodyPr/>
          <a:lstStyle/>
          <a:p>
            <a:pPr lvl="0"/>
            <a:r>
              <a:rPr lang="en-IN" b="1" dirty="0"/>
              <a:t>Patient Features:</a:t>
            </a:r>
            <a:r>
              <a:rPr lang="en-IN" dirty="0"/>
              <a:t> Age, gender, symptoms, and medical test results. </a:t>
            </a:r>
          </a:p>
          <a:p>
            <a:pPr lvl="0"/>
            <a:r>
              <a:rPr lang="en-IN" b="1" dirty="0"/>
              <a:t>Input Variables:</a:t>
            </a:r>
            <a:r>
              <a:rPr lang="en-IN" dirty="0"/>
              <a:t> Clinical attributes used by the model for prediction. </a:t>
            </a:r>
          </a:p>
          <a:p>
            <a:pPr lvl="0"/>
            <a:r>
              <a:rPr lang="en-IN" b="1" dirty="0"/>
              <a:t>Target Variable:</a:t>
            </a:r>
            <a:r>
              <a:rPr lang="en-IN" dirty="0"/>
              <a:t> Disease category to be predicted. </a:t>
            </a:r>
          </a:p>
          <a:p>
            <a:pPr lvl="0"/>
            <a:r>
              <a:rPr lang="en-IN" b="1" dirty="0"/>
              <a:t>Multiple Classes:</a:t>
            </a:r>
            <a:r>
              <a:rPr lang="en-IN" dirty="0"/>
              <a:t> Represents different possible diseases. </a:t>
            </a:r>
          </a:p>
          <a:p>
            <a:pPr lvl="0"/>
            <a:r>
              <a:rPr lang="en-IN" b="1" dirty="0"/>
              <a:t>Data Preprocessing:</a:t>
            </a:r>
            <a:r>
              <a:rPr lang="en-IN" dirty="0"/>
              <a:t> Missing values, categorical values, and numerical features are handled before training. </a:t>
            </a:r>
          </a:p>
          <a:p>
            <a:pPr lvl="0"/>
            <a:r>
              <a:rPr lang="en-IN" b="1" dirty="0"/>
              <a:t>Training Data:</a:t>
            </a:r>
            <a:r>
              <a:rPr lang="en-IN" dirty="0"/>
              <a:t> Used to build the classification model. </a:t>
            </a:r>
          </a:p>
          <a:p>
            <a:pPr lvl="0"/>
            <a:r>
              <a:rPr lang="en-IN" b="1" dirty="0"/>
              <a:t>Testing Data:</a:t>
            </a:r>
            <a:r>
              <a:rPr lang="en-IN" dirty="0"/>
              <a:t> Used to evaluate the model's performance.</a:t>
            </a:r>
          </a:p>
          <a:p>
            <a:pPr marL="0" indent="0">
              <a:buNone/>
            </a:pPr>
            <a:endParaRPr lang="en-IN" dirty="0"/>
          </a:p>
        </p:txBody>
      </p:sp>
    </p:spTree>
    <p:extLst>
      <p:ext uri="{BB962C8B-B14F-4D97-AF65-F5344CB8AC3E}">
        <p14:creationId xmlns:p14="http://schemas.microsoft.com/office/powerpoint/2010/main" val="82634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a:t>THANK YOU </a:t>
            </a:r>
            <a:endParaRPr lang="en-IN" dirty="0"/>
          </a:p>
        </p:txBody>
      </p:sp>
    </p:spTree>
    <p:extLst>
      <p:ext uri="{BB962C8B-B14F-4D97-AF65-F5344CB8AC3E}">
        <p14:creationId xmlns:p14="http://schemas.microsoft.com/office/powerpoint/2010/main" val="26005686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436</TotalTime>
  <Words>549</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Celestial</vt:lpstr>
      <vt:lpstr>Multi class Disease Diagnosis Using Multinomial Logistic Regression</vt:lpstr>
      <vt:lpstr>CONTENTS</vt:lpstr>
      <vt:lpstr>ABSTRACT</vt:lpstr>
      <vt:lpstr>INTRODUCTION</vt:lpstr>
      <vt:lpstr>REQUIREMENT ANALYSIS </vt:lpstr>
      <vt:lpstr>20 Literature papers (1 – 5)</vt:lpstr>
      <vt:lpstr>20 Literature papers (6 – 10)</vt:lpstr>
      <vt:lpstr>20 Literature papers (11 – 15)</vt:lpstr>
      <vt:lpstr>20 Literature papers (16 – 20)</vt:lpstr>
      <vt:lpstr> DATASET Description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uttej</dc:creator>
  <cp:lastModifiedBy>uttej yetukuri</cp:lastModifiedBy>
  <cp:revision>43</cp:revision>
  <dcterms:created xsi:type="dcterms:W3CDTF">2026-06-10T13:51:49Z</dcterms:created>
  <dcterms:modified xsi:type="dcterms:W3CDTF">2026-09-18T15:50:01Z</dcterms:modified>
</cp:coreProperties>
</file>